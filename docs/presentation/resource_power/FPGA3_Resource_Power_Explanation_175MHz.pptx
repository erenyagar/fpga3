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259eeadbde4f7b" /><Relationship Type="http://schemas.openxmlformats.org/officeDocument/2006/relationships/extended-properties" Target="/docProps/app.xml" Id="Rf87f9f0a8bf742e0" /><Relationship Type="http://schemas.openxmlformats.org/officeDocument/2006/relationships/officeDocument" Target="/ppt/presentation.xml" Id="Rf5a75f9508cf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fdc88cc1a94d2f"/>
  </p:sldMasterIdLst>
  <p:notesMasterIdLst>
    <p:notesMasterId xmlns:r="http://schemas.openxmlformats.org/officeDocument/2006/relationships" r:id="R9d83c043d4464aba"/>
  </p:notesMasterIdLst>
  <p:sldIdLst>
    <p:sldId xmlns:r="http://schemas.openxmlformats.org/officeDocument/2006/relationships" id="256" r:id="R1d2eb7684c4242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e4a31d6f5c4199" /><Relationship Type="http://schemas.openxmlformats.org/officeDocument/2006/relationships/slideMaster" Target="/ppt/slideMasters/slideMaster1.xml" Id="R7dfdc88cc1a94d2f" /><Relationship Type="http://schemas.openxmlformats.org/officeDocument/2006/relationships/notesMaster" Target="/ppt/notesMasters/notesMaster1.xml" Id="R9d83c043d4464aba" /><Relationship Type="http://schemas.openxmlformats.org/officeDocument/2006/relationships/presProps" Target="/ppt/presProps.xml" Id="R0aa5cb24cfc14ccf" /><Relationship Type="http://schemas.openxmlformats.org/officeDocument/2006/relationships/tableStyles" Target="/ppt/tableStyles.xml" Id="Rb54627cbdbb9449a" /><Relationship Type="http://schemas.openxmlformats.org/officeDocument/2006/relationships/slide" Target="/ppt/slides/slide1.xml" Id="R1d2eb7684c42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5f971b551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e55eb1db94eb3" /><Relationship Type="http://schemas.openxmlformats.org/officeDocument/2006/relationships/notesMaster" Target="/ppt/notesMasters/notesMaster1.xml" Id="R4dba3ee55c1c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報告重點：先說明 LUT、FF、BRAM 使用率皆低，容量不是目前瓶頸；再說明 0.461 W 是 routed vectorless estimate，confidence level 為 Medium，不可宣稱為實板量測。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C:/project/FPGA3/docs/report/figures/vivado_native/25_utilization_gui.png</a:t>
            </a:r>
          </a:p>
          <a:p xmlns:a="http://schemas.openxmlformats.org/drawingml/2006/main">
            <a:r>
              <a:t>- C:/project/FPGA3/docs/report/figures/vivado_native/26_power_gui.png</a:t>
            </a:r>
          </a:p>
          <a:p xmlns:a="http://schemas.openxmlformats.org/drawingml/2006/main">
            <a:r>
              <a:t>- C:/project/FPGA3/docs/report/figures/vivado_native/09_utilization_hierarchical.rpt</a:t>
            </a:r>
          </a:p>
          <a:p xmlns:a="http://schemas.openxmlformats.org/drawingml/2006/main">
            <a:r>
              <a:t>- C:/project/FPGA3/docs/report/figures/vivado_native/13_power.rpt</a:t>
            </a:r>
          </a:p>
          <a:p xmlns:a="http://schemas.openxmlformats.org/drawingml/2006/main">
            <a:r>
              <a:t>- Background generated with the built-in imagegen tool; original Vivado screenshots embedded with fit=contain and no crop.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d24401e1c43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4cfd5db1b4e09" /><Relationship Type="http://schemas.openxmlformats.org/officeDocument/2006/relationships/slideLayout" Target="/ppt/slideLayouts/slideLayout1.xml" Id="R3990ba17961248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0ba179612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ff8894ba64f1e" /><Relationship Type="http://schemas.openxmlformats.org/officeDocument/2006/relationships/image" Target="/ppt/media/image.png" Id="Rfff6c40485784efe" /><Relationship Type="http://schemas.openxmlformats.org/officeDocument/2006/relationships/image" Target="/ppt/media/image2.png" Id="R223f066080314e76" /><Relationship Type="http://schemas.openxmlformats.org/officeDocument/2006/relationships/image" Target="/ppt/media/image3.png" Id="Rfc291cdbd1f34e3b" /><Relationship Type="http://schemas.openxmlformats.org/officeDocument/2006/relationships/notesSlide" Target="/ppt/notesSlides/notesSlide1.xml" Id="R4eda025c252f48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6c40485784e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318964-B140-4757-9C96-F80C186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資源餘裕充足；0.461 W 為 vectorless 功率估算</a:t>
            </a:r>
          </a:p>
        </p:txBody>
      </p:sp>
      <p:sp>
        <p:nvSpPr>
          <p:cNvPr id="3" name="utilization-label">
            <a:extLst xmlns:a="http://schemas.openxmlformats.org/drawingml/2006/main">
              <a:ext uri="{FF2B5EF4-FFF2-40B4-BE49-F238E27FC236}">
                <a16:creationId xmlns:a16="http://schemas.microsoft.com/office/drawing/2014/main" id="{7A572A29-786A-4D5E-9F9C-D40EB38E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RESOURCE UTILIZATION</a:t>
            </a:r>
          </a:p>
        </p:txBody>
      </p:sp>
      <p:sp>
        <p:nvSpPr>
          <p:cNvPr id="4" name="power-label">
            <a:extLst xmlns:a="http://schemas.openxmlformats.org/drawingml/2006/main">
              <a:ext uri="{FF2B5EF4-FFF2-40B4-BE49-F238E27FC236}">
                <a16:creationId xmlns:a16="http://schemas.microsoft.com/office/drawing/2014/main" id="{4D2A3BB5-B14D-4061-BDD9-6DB1CA4D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23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</a:rPr>
              <a:t>POST-ROUTE POWER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f066080314e76"/>
          <a:stretch xmlns:a="http://schemas.openxmlformats.org/drawingml/2006/main"/>
        </p:blipFill>
        <p:spPr>
          <a:xfrm xmlns:a="http://schemas.openxmlformats.org/drawingml/2006/main">
            <a:off x="685800" y="1428810"/>
            <a:ext cx="5105400" cy="274308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91cdbd1f34e3b"/>
          <a:stretch xmlns:a="http://schemas.openxmlformats.org/drawingml/2006/main"/>
        </p:blipFill>
        <p:spPr>
          <a:xfrm xmlns:a="http://schemas.openxmlformats.org/drawingml/2006/main">
            <a:off x="6286500" y="1431652"/>
            <a:ext cx="4953000" cy="2661197"/>
          </a:xfrm>
          <a:prstGeom xmlns:a="http://schemas.openxmlformats.org/drawingml/2006/main" prst="rect">
            <a:avLst/>
          </a:prstGeom>
        </p:spPr>
      </p:pic>
      <p:sp>
        <p:nvSpPr>
          <p:cNvPr id="7" name="utilization-metrics">
            <a:extLst xmlns:a="http://schemas.openxmlformats.org/drawingml/2006/main">
              <a:ext uri="{FF2B5EF4-FFF2-40B4-BE49-F238E27FC236}">
                <a16:creationId xmlns:a16="http://schemas.microsoft.com/office/drawing/2014/main" id="{18823410-DB12-4922-817C-DD5A2501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LUT 19.58%  •  FF 7.12%  •  BRAM 3.70%</a:t>
            </a:r>
          </a:p>
        </p:txBody>
      </p:sp>
      <p:sp>
        <p:nvSpPr>
          <p:cNvPr id="8" name="utilization-meaning">
            <a:extLst xmlns:a="http://schemas.openxmlformats.org/drawingml/2006/main">
              <a:ext uri="{FF2B5EF4-FFF2-40B4-BE49-F238E27FC236}">
                <a16:creationId xmlns:a16="http://schemas.microsoft.com/office/drawing/2014/main" id="{44AE4B96-68B1-4E7D-A0AA-B8DA747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容量不是目前的設計瓶頸，仍保留後續擴充空間</a:t>
            </a:r>
          </a:p>
        </p:txBody>
      </p:sp>
      <p:sp>
        <p:nvSpPr>
          <p:cNvPr id="9" name="power-metrics">
            <a:extLst xmlns:a="http://schemas.openxmlformats.org/drawingml/2006/main">
              <a:ext uri="{FF2B5EF4-FFF2-40B4-BE49-F238E27FC236}">
                <a16:creationId xmlns:a16="http://schemas.microsoft.com/office/drawing/2014/main" id="{735418A0-1CDF-4506-97F4-0787CC46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80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Total 0.461 W  •  Dynamic 0.363 W  •  Static 0.099 W</a:t>
            </a:r>
          </a:p>
        </p:txBody>
      </p:sp>
      <p:sp>
        <p:nvSpPr>
          <p:cNvPr id="10" name="power-caveat">
            <a:extLst xmlns:a="http://schemas.openxmlformats.org/drawingml/2006/main">
              <a:ext uri="{FF2B5EF4-FFF2-40B4-BE49-F238E27FC236}">
                <a16:creationId xmlns:a16="http://schemas.microsoft.com/office/drawing/2014/main" id="{1F1BA0B1-F71F-4963-B447-B0B81860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5A11"/>
                </a:solidFill>
              </a:defRPr>
            </a:pPr>
            <a:r>
              <a:rPr sz="1350" b="1">
                <a:solidFill>
                  <a:srgbClr val="C55A11"/>
                </a:solidFill>
              </a:rPr>
              <a:t>Confidence: Medium  •  非實板功率量測</a:t>
            </a:r>
          </a:p>
        </p:txBody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DE6D7E0B-D233-4AF4-90B5-E2D9C92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75B5"/>
                </a:solidFill>
              </a:defRPr>
            </a:pPr>
            <a:r>
              <a:rPr sz="1575" b="1">
                <a:solidFill>
                  <a:srgbClr val="2F75B5"/>
                </a:solidFill>
              </a:rPr>
              <a:t>主管結論</a:t>
            </a:r>
          </a:p>
        </p:txBody>
      </p:sp>
      <p:sp>
        <p:nvSpPr>
          <p:cNvPr id="12" name="conclusion">
            <a:extLst xmlns:a="http://schemas.openxmlformats.org/drawingml/2006/main">
              <a:ext uri="{FF2B5EF4-FFF2-40B4-BE49-F238E27FC236}">
                <a16:creationId xmlns:a16="http://schemas.microsoft.com/office/drawing/2014/main" id="{083299F0-08CA-4006-B879-CDAB284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86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資源有充分餘裕；功率估算合理。Release 前建議以 SAIF／VCD 或板級電源軌量測提高可信度。</a:t>
            </a:r>
          </a:p>
        </p:txBody>
      </p:sp>
    </p:spTree>
    <p:extLst>
      <p:ext uri="{BB962C8B-B14F-4D97-AF65-F5344CB8AC3E}">
        <p14:creationId xmlns:p14="http://schemas.microsoft.com/office/powerpoint/2010/main" val="296195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2026-08-23T23:37:08.8600000Z</dcterms:created>
  <dcterms:modified xsi:type="dcterms:W3CDTF">2026-08-23T23:37:08.8600000Z</dcterms:modified>
</coreProperties>
</file>